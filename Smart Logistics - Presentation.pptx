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1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4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03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7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3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1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9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7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73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2772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rPr dirty="0"/>
              <a:t>Subject Title : Optimization Techniques</a:t>
            </a:r>
            <a:br>
              <a:rPr dirty="0"/>
            </a:br>
            <a:r>
              <a:rPr dirty="0"/>
              <a:t>Subject Code : </a:t>
            </a:r>
            <a:r>
              <a:rPr lang="en-US" dirty="0"/>
              <a:t>6CS1026</a:t>
            </a:r>
            <a:br>
              <a:rPr dirty="0"/>
            </a:br>
            <a:r>
              <a:rPr dirty="0"/>
              <a:t>Title : Smart Logistics – Vehicle Routing Optimization</a:t>
            </a:r>
          </a:p>
          <a:p>
            <a:pPr algn="ctr">
              <a:defRPr sz="1600"/>
            </a:pPr>
            <a:endParaRPr dirty="0"/>
          </a:p>
          <a:p>
            <a:pPr algn="ctr">
              <a:defRPr sz="1600"/>
            </a:pPr>
            <a:r>
              <a:rPr dirty="0"/>
              <a:t>Team Members</a:t>
            </a:r>
          </a:p>
          <a:p>
            <a:pPr algn="ctr">
              <a:defRPr sz="1600"/>
            </a:pPr>
            <a:r>
              <a:rPr lang="en-US" dirty="0"/>
              <a:t>Suriya.S.M-2023BCSE07AED028</a:t>
            </a:r>
          </a:p>
          <a:p>
            <a:pPr algn="ctr">
              <a:defRPr sz="1600"/>
            </a:pPr>
            <a:r>
              <a:rPr lang="en-US" dirty="0"/>
              <a:t>Lakshin.S.K-2023BCSE07AED028</a:t>
            </a:r>
          </a:p>
          <a:p>
            <a:pPr algn="ctr">
              <a:defRPr sz="1600"/>
            </a:pPr>
            <a:r>
              <a:rPr lang="en-US" dirty="0"/>
              <a:t>Pavan.M-2023BCSE07AED123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Vehicle Routing Problem (VRP) is a critical optimization challenge in smart logistics.</a:t>
            </a:r>
          </a:p>
          <a:p>
            <a:pPr>
              <a:spcAft>
                <a:spcPts val="800"/>
              </a:spcAft>
              <a:defRPr sz="1800"/>
            </a:pPr>
            <a:r>
              <a:t>• Objective is to find optimal delivery routes for multiple vehicles.</a:t>
            </a:r>
          </a:p>
          <a:p>
            <a:pPr>
              <a:spcAft>
                <a:spcPts val="800"/>
              </a:spcAft>
              <a:defRPr sz="1800"/>
            </a:pPr>
            <a:r>
              <a:t>• Minimizes distance, fuel cost, delay, and operational expenses.</a:t>
            </a:r>
          </a:p>
          <a:p>
            <a:pPr>
              <a:spcAft>
                <a:spcPts val="800"/>
              </a:spcAft>
              <a:defRPr sz="1800"/>
            </a:pPr>
            <a:r>
              <a:t>• Implemented algorithms: GA, PSO, ACO.</a:t>
            </a:r>
          </a:p>
          <a:p>
            <a:pPr>
              <a:spcAft>
                <a:spcPts val="800"/>
              </a:spcAft>
              <a:defRPr sz="1800"/>
            </a:pPr>
            <a:r>
              <a:t>• Compared performance using MATLAB.</a:t>
            </a:r>
          </a:p>
          <a:p>
            <a:pPr>
              <a:spcAft>
                <a:spcPts val="800"/>
              </a:spcAft>
              <a:defRPr sz="1800"/>
            </a:pPr>
            <a:r>
              <a:t>• Achieved near-optimal multi-vehicle routing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To solve the Vehicle Routing Problem for smart city logistics</a:t>
            </a:r>
          </a:p>
          <a:p>
            <a:pPr>
              <a:spcAft>
                <a:spcPts val="800"/>
              </a:spcAft>
              <a:defRPr sz="1800"/>
            </a:pPr>
            <a:r>
              <a:t>• To implement GA, PSO, and ACO optimization algorithms</a:t>
            </a:r>
          </a:p>
          <a:p>
            <a:pPr>
              <a:spcAft>
                <a:spcPts val="800"/>
              </a:spcAft>
              <a:defRPr sz="1800"/>
            </a:pPr>
            <a:r>
              <a:t>• To minimize total distance, fuel cost, delay, and operational expenses</a:t>
            </a:r>
          </a:p>
          <a:p>
            <a:pPr>
              <a:spcAft>
                <a:spcPts val="800"/>
              </a:spcAft>
              <a:defRPr sz="1800"/>
            </a:pPr>
            <a:r>
              <a:t>• To compare efficiency of different optimization techniques</a:t>
            </a:r>
          </a:p>
          <a:p>
            <a:pPr>
              <a:spcAft>
                <a:spcPts val="800"/>
              </a:spcAft>
              <a:defRPr sz="1800"/>
            </a:pPr>
            <a:r>
              <a:t>• To obtain cost-efficient delivery routes for multiple vehicles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Multiple vehicles must deliver goods to various customer locations</a:t>
            </a:r>
          </a:p>
          <a:p>
            <a:pPr>
              <a:spcAft>
                <a:spcPts val="800"/>
              </a:spcAft>
              <a:defRPr sz="1800"/>
            </a:pPr>
            <a:r>
              <a:t>• All routes start and end at a central depot</a:t>
            </a:r>
          </a:p>
          <a:p>
            <a:pPr>
              <a:spcAft>
                <a:spcPts val="800"/>
              </a:spcAft>
              <a:defRPr sz="1800"/>
            </a:pPr>
            <a:r>
              <a:t>• Vehicle capacity constraints must be respected</a:t>
            </a:r>
          </a:p>
          <a:p>
            <a:pPr>
              <a:spcAft>
                <a:spcPts val="800"/>
              </a:spcAft>
              <a:defRPr sz="1800"/>
            </a:pPr>
            <a:r>
              <a:t>• Number of possible route combinations grows exponentially</a:t>
            </a:r>
          </a:p>
          <a:p>
            <a:pPr>
              <a:spcAft>
                <a:spcPts val="800"/>
              </a:spcAft>
              <a:defRPr sz="1800"/>
            </a:pPr>
            <a:r>
              <a:t>• Exact methods become computationally infeasible for large instances</a:t>
            </a:r>
          </a:p>
          <a:p>
            <a:pPr>
              <a:spcAft>
                <a:spcPts val="800"/>
              </a:spcAft>
              <a:defRPr sz="1800"/>
            </a:pPr>
            <a:r>
              <a:t>• Need efficient metaheuristic optimization techniques</a:t>
            </a:r>
          </a:p>
          <a:p>
            <a:pPr>
              <a:spcAft>
                <a:spcPts val="800"/>
              </a:spcAft>
              <a:defRPr sz="1800"/>
            </a:pPr>
            <a:r>
              <a:t>• Must minimize: distance + fuel cost + delay + operational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VRP is widely studied in operations research and logistics</a:t>
            </a:r>
          </a:p>
          <a:p>
            <a:pPr>
              <a:spcAft>
                <a:spcPts val="800"/>
              </a:spcAft>
              <a:defRPr sz="1800"/>
            </a:pPr>
            <a:r>
              <a:t>• Critical for smart city delivery and supply chain management</a:t>
            </a:r>
          </a:p>
          <a:p>
            <a:pPr>
              <a:spcAft>
                <a:spcPts val="800"/>
              </a:spcAft>
              <a:defRPr sz="1800"/>
            </a:pPr>
            <a:r>
              <a:t>• Applications:</a:t>
            </a:r>
          </a:p>
          <a:p>
            <a:pPr>
              <a:spcAft>
                <a:spcPts val="800"/>
              </a:spcAft>
              <a:defRPr sz="1800"/>
            </a:pPr>
            <a:r>
              <a:t>    - Last-mile delivery optimization</a:t>
            </a:r>
          </a:p>
          <a:p>
            <a:pPr>
              <a:spcAft>
                <a:spcPts val="800"/>
              </a:spcAft>
              <a:defRPr sz="1800"/>
            </a:pPr>
            <a:r>
              <a:t>    - Fleet management and scheduling</a:t>
            </a:r>
          </a:p>
          <a:p>
            <a:pPr>
              <a:spcAft>
                <a:spcPts val="800"/>
              </a:spcAft>
              <a:defRPr sz="1800"/>
            </a:pPr>
            <a:r>
              <a:t>    - Supply chain and warehouse logistics</a:t>
            </a:r>
          </a:p>
          <a:p>
            <a:pPr>
              <a:spcAft>
                <a:spcPts val="800"/>
              </a:spcAft>
              <a:defRPr sz="1800"/>
            </a:pPr>
            <a:r>
              <a:t>    - Emergency vehicle routing</a:t>
            </a:r>
          </a:p>
          <a:p>
            <a:pPr>
              <a:spcAft>
                <a:spcPts val="800"/>
              </a:spcAft>
              <a:defRPr sz="1800"/>
            </a:pPr>
            <a:r>
              <a:t>• Optimization reduces cost, emissions, and delivery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TECHNIQUE 1 – GENETIC ALGORITHM (GA)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Inspired by natural selection and genetics</a:t>
            </a:r>
          </a:p>
          <a:p>
            <a:pPr>
              <a:spcAft>
                <a:spcPts val="800"/>
              </a:spcAft>
              <a:defRPr sz="1800"/>
            </a:pPr>
            <a:r>
              <a:t>• Population of route solutions evolves over generations</a:t>
            </a:r>
          </a:p>
          <a:p>
            <a:pPr>
              <a:spcAft>
                <a:spcPts val="800"/>
              </a:spcAft>
              <a:defRPr sz="1800"/>
            </a:pPr>
            <a:r>
              <a:t>• Fitness function evaluates total cost (distance + fuel + delay + ops)</a:t>
            </a:r>
          </a:p>
          <a:p>
            <a:pPr>
              <a:spcAft>
                <a:spcPts val="800"/>
              </a:spcAft>
              <a:defRPr sz="1800"/>
            </a:pPr>
            <a:r>
              <a:t>• Selection, crossover, and mutation operators</a:t>
            </a:r>
          </a:p>
          <a:p>
            <a:pPr>
              <a:spcAft>
                <a:spcPts val="800"/>
              </a:spcAft>
              <a:defRPr sz="1800"/>
            </a:pPr>
            <a:r>
              <a:t>• Mutation swaps customers between vehicle routes</a:t>
            </a:r>
          </a:p>
          <a:p>
            <a:pPr>
              <a:spcAft>
                <a:spcPts val="800"/>
              </a:spcAft>
              <a:defRPr sz="1800"/>
            </a:pPr>
            <a:r>
              <a:t>• Advantage: Good global search, stable convergence</a:t>
            </a:r>
          </a:p>
          <a:p>
            <a:pPr>
              <a:spcAft>
                <a:spcPts val="800"/>
              </a:spcAft>
              <a:defRPr sz="1800"/>
            </a:pPr>
            <a:r>
              <a:t>• Limitation: Slower convergence compared to swarm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TECHNIQUE 2 – PARTICLE SWARM OPTIMIZATION (PSO)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Inspired by bird flocking and fish schooling behavior</a:t>
            </a:r>
          </a:p>
          <a:p>
            <a:pPr>
              <a:spcAft>
                <a:spcPts val="800"/>
              </a:spcAft>
              <a:defRPr sz="1800"/>
            </a:pPr>
            <a:r>
              <a:t>• Each particle represents a candidate routing solution</a:t>
            </a:r>
          </a:p>
          <a:p>
            <a:pPr>
              <a:spcAft>
                <a:spcPts val="800"/>
              </a:spcAft>
              <a:defRPr sz="1800"/>
            </a:pPr>
            <a:r>
              <a:t>• Guided by personal best (pbest) and global best (gbest)</a:t>
            </a:r>
          </a:p>
          <a:p>
            <a:pPr>
              <a:spcAft>
                <a:spcPts val="800"/>
              </a:spcAft>
              <a:defRPr sz="1800"/>
            </a:pPr>
            <a:r>
              <a:t>• Swap-based velocity for discrete VRP</a:t>
            </a:r>
          </a:p>
          <a:p>
            <a:pPr>
              <a:spcAft>
                <a:spcPts val="800"/>
              </a:spcAft>
              <a:defRPr sz="1800"/>
            </a:pPr>
            <a:r>
              <a:t>• Balances exploration and exploitation</a:t>
            </a:r>
          </a:p>
          <a:p>
            <a:pPr>
              <a:spcAft>
                <a:spcPts val="800"/>
              </a:spcAft>
              <a:defRPr sz="1800"/>
            </a:pPr>
            <a:r>
              <a:t>• Advantage: Fast convergence</a:t>
            </a:r>
          </a:p>
          <a:p>
            <a:pPr>
              <a:spcAft>
                <a:spcPts val="800"/>
              </a:spcAft>
              <a:defRPr sz="1800"/>
            </a:pPr>
            <a:r>
              <a:t>• Limitation: May converge to local optima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TECHNIQUE 3 – ANT COLONY OPTIMIZATION (ACO)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Inspired by ant foraging behavior</a:t>
            </a:r>
          </a:p>
          <a:p>
            <a:pPr>
              <a:spcAft>
                <a:spcPts val="800"/>
              </a:spcAft>
              <a:defRPr sz="1800"/>
            </a:pPr>
            <a:r>
              <a:t>• Ants build routes using pheromone trails and heuristic info</a:t>
            </a:r>
          </a:p>
          <a:p>
            <a:pPr>
              <a:spcAft>
                <a:spcPts val="800"/>
              </a:spcAft>
              <a:defRPr sz="1800"/>
            </a:pPr>
            <a:r>
              <a:t>• Shorter, cost-efficient routes get more pheromone</a:t>
            </a:r>
          </a:p>
          <a:p>
            <a:pPr>
              <a:spcAft>
                <a:spcPts val="800"/>
              </a:spcAft>
              <a:defRPr sz="1800"/>
            </a:pPr>
            <a:r>
              <a:t>• Natural capacity-based route splitting for multi-vehicle</a:t>
            </a:r>
          </a:p>
          <a:p>
            <a:pPr>
              <a:spcAft>
                <a:spcPts val="800"/>
              </a:spcAft>
              <a:defRPr sz="1800"/>
            </a:pPr>
            <a:r>
              <a:t>• Evaporation prevents premature convergence</a:t>
            </a:r>
          </a:p>
          <a:p>
            <a:pPr>
              <a:spcAft>
                <a:spcPts val="800"/>
              </a:spcAft>
              <a:defRPr sz="1800"/>
            </a:pPr>
            <a:r>
              <a:t>• Advantage: High solution quality, best for VRP</a:t>
            </a:r>
          </a:p>
          <a:p>
            <a:pPr>
              <a:spcAft>
                <a:spcPts val="800"/>
              </a:spcAft>
              <a:defRPr sz="1800"/>
            </a:pPr>
            <a:r>
              <a:t>• Limitation: Higher computation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DATASET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20 customer locations with random 2D coordinates</a:t>
            </a:r>
          </a:p>
          <a:p>
            <a:pPr>
              <a:spcAft>
                <a:spcPts val="800"/>
              </a:spcAft>
              <a:defRPr sz="1800"/>
            </a:pPr>
            <a:r>
              <a:t>• 1 central depot for all vehicles</a:t>
            </a:r>
          </a:p>
          <a:p>
            <a:pPr>
              <a:spcAft>
                <a:spcPts val="800"/>
              </a:spcAft>
              <a:defRPr sz="1800"/>
            </a:pPr>
            <a:r>
              <a:t>• 3 vehicles with capacity constraint of 100 units</a:t>
            </a:r>
          </a:p>
          <a:p>
            <a:pPr>
              <a:spcAft>
                <a:spcPts val="800"/>
              </a:spcAft>
              <a:defRPr sz="1800"/>
            </a:pPr>
            <a:r>
              <a:t>• Customer demands: 5–20 units each</a:t>
            </a:r>
          </a:p>
          <a:p>
            <a:pPr>
              <a:spcAft>
                <a:spcPts val="800"/>
              </a:spcAft>
              <a:defRPr sz="1800"/>
            </a:pPr>
            <a:r>
              <a:t>• Distance calculated using Euclidean formula</a:t>
            </a:r>
          </a:p>
          <a:p>
            <a:pPr>
              <a:spcAft>
                <a:spcPts val="800"/>
              </a:spcAft>
              <a:defRPr sz="1800"/>
            </a:pPr>
            <a:r>
              <a:t>• Cost function: distance + fuel cost + delay penalty + vehicle fixed cost</a:t>
            </a:r>
          </a:p>
          <a:p>
            <a:pPr>
              <a:spcAft>
                <a:spcPts val="800"/>
              </a:spcAft>
              <a:defRPr sz="1800"/>
            </a:pPr>
            <a:r>
              <a:t>• Fuel rate: 0.5 per unit distance</a:t>
            </a:r>
          </a:p>
          <a:p>
            <a:pPr>
              <a:spcAft>
                <a:spcPts val="800"/>
              </a:spcAft>
              <a:defRPr sz="1800"/>
            </a:pPr>
            <a:r>
              <a:t>• Delay penalty: 2.0 per unit delay</a:t>
            </a:r>
          </a:p>
          <a:p>
            <a:pPr>
              <a:spcAft>
                <a:spcPts val="800"/>
              </a:spcAft>
              <a:defRPr sz="1800"/>
            </a:pPr>
            <a:r>
              <a:t>• Fixed vehicle cost: 50 per vehicle deployed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Total Distance (sum of all vehicle routes)</a:t>
            </a:r>
          </a:p>
          <a:p>
            <a:pPr>
              <a:spcAft>
                <a:spcPts val="800"/>
              </a:spcAft>
              <a:defRPr sz="1800"/>
            </a:pPr>
            <a:r>
              <a:t>• Fuel Cost (proportional to distance traveled)</a:t>
            </a:r>
          </a:p>
          <a:p>
            <a:pPr>
              <a:spcAft>
                <a:spcPts val="800"/>
              </a:spcAft>
              <a:defRPr sz="1800"/>
            </a:pPr>
            <a:r>
              <a:t>• Delivery Delay (penalty for late arrivals)</a:t>
            </a:r>
          </a:p>
          <a:p>
            <a:pPr>
              <a:spcAft>
                <a:spcPts val="800"/>
              </a:spcAft>
              <a:defRPr sz="1800"/>
            </a:pPr>
            <a:r>
              <a:t>• Operational Expenses (fixed cost per vehicle)</a:t>
            </a:r>
          </a:p>
          <a:p>
            <a:pPr>
              <a:spcAft>
                <a:spcPts val="800"/>
              </a:spcAft>
              <a:defRPr sz="1800"/>
            </a:pPr>
            <a:r>
              <a:t>• Total Combined Cost (fitness value)</a:t>
            </a:r>
          </a:p>
          <a:p>
            <a:pPr>
              <a:spcAft>
                <a:spcPts val="800"/>
              </a:spcAft>
              <a:defRPr sz="1800"/>
            </a:pPr>
            <a:r>
              <a:t>• Convergence Speed (iterations to reach near-optimal)</a:t>
            </a:r>
          </a:p>
          <a:p>
            <a:pPr>
              <a:spcAft>
                <a:spcPts val="800"/>
              </a:spcAft>
              <a:defRPr sz="1800"/>
            </a:pPr>
            <a:r>
              <a:t>• Solution Consistency (variance across multiple runs)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C7F6-B190-8DC4-0897-4CE97432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8C2EC-B0EE-1F78-9787-9F3302BB3A42}"/>
              </a:ext>
            </a:extLst>
          </p:cNvPr>
          <p:cNvSpPr txBox="1"/>
          <p:nvPr/>
        </p:nvSpPr>
        <p:spPr>
          <a:xfrm>
            <a:off x="4083567" y="274320"/>
            <a:ext cx="402456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rPr lang="en-US" dirty="0"/>
              <a:t>ARCHITECTURE DIAGRAM</a:t>
            </a:r>
          </a:p>
          <a:p>
            <a:pPr algn="ctr">
              <a:defRPr sz="2800" b="1">
                <a:solidFill>
                  <a:srgbClr val="003366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87A7F-4CE2-059B-B5F9-5A855F4F5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567" y="751373"/>
            <a:ext cx="4704833" cy="551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229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All three algorithms successfully reduce total delivery cost</a:t>
            </a:r>
          </a:p>
          <a:p>
            <a:pPr>
              <a:spcAft>
                <a:spcPts val="800"/>
              </a:spcAft>
              <a:defRPr sz="1800"/>
            </a:pPr>
            <a:r>
              <a:t>• Convergence observed in cost vs. iteration graphs</a:t>
            </a:r>
          </a:p>
          <a:p>
            <a:pPr>
              <a:spcAft>
                <a:spcPts val="800"/>
              </a:spcAft>
              <a:defRPr sz="1800"/>
            </a:pPr>
            <a:r>
              <a:t>• ACO achieves the lowest total cost overall</a:t>
            </a:r>
          </a:p>
          <a:p>
            <a:pPr>
              <a:spcAft>
                <a:spcPts val="800"/>
              </a:spcAft>
              <a:defRPr sz="1800"/>
            </a:pPr>
            <a:r>
              <a:t>• PSO converges fastest among the three algorithms</a:t>
            </a:r>
          </a:p>
          <a:p>
            <a:pPr>
              <a:spcAft>
                <a:spcPts val="800"/>
              </a:spcAft>
              <a:defRPr sz="1800"/>
            </a:pPr>
            <a:r>
              <a:t>• GA provides most consistent results across multiple runs</a:t>
            </a:r>
          </a:p>
          <a:p>
            <a:pPr>
              <a:spcAft>
                <a:spcPts val="800"/>
              </a:spcAft>
              <a:defRPr sz="1800"/>
            </a:pPr>
            <a:r>
              <a:t>• All algorithms outperform random and greedy baselines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PSO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ACO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Solution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Convergence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Fastest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Most 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Consistent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Computation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Metaheuristic techniques effectively solve Vehicle Routing Problem</a:t>
            </a:r>
          </a:p>
          <a:p>
            <a:pPr>
              <a:spcAft>
                <a:spcPts val="800"/>
              </a:spcAft>
              <a:defRPr sz="1800"/>
            </a:pPr>
            <a:r>
              <a:t>• Genetic Algorithm provides stable and reliable multi-vehicle solutions</a:t>
            </a:r>
          </a:p>
          <a:p>
            <a:pPr>
              <a:spcAft>
                <a:spcPts val="800"/>
              </a:spcAft>
              <a:defRPr sz="1800"/>
            </a:pPr>
            <a:r>
              <a:t>• Particle Swarm Optimization shows fastest convergence</a:t>
            </a:r>
          </a:p>
          <a:p>
            <a:pPr>
              <a:spcAft>
                <a:spcPts val="800"/>
              </a:spcAft>
              <a:defRPr sz="1800"/>
            </a:pPr>
            <a:r>
              <a:t>• Ant Colony Optimization gives the best and most cost-efficient results</a:t>
            </a:r>
          </a:p>
          <a:p>
            <a:pPr>
              <a:spcAft>
                <a:spcPts val="800"/>
              </a:spcAft>
              <a:defRPr sz="1800"/>
            </a:pPr>
            <a:r>
              <a:t>• ACO is naturally suited for multi-vehicle routing with capacity constraints</a:t>
            </a:r>
          </a:p>
          <a:p>
            <a:pPr>
              <a:spcAft>
                <a:spcPts val="800"/>
              </a:spcAft>
              <a:defRPr sz="1800"/>
            </a:pPr>
            <a:r>
              <a:t>• Swarm intelligence methods perform better overall for VRP</a:t>
            </a:r>
          </a:p>
          <a:p>
            <a:pPr>
              <a:spcAft>
                <a:spcPts val="800"/>
              </a:spcAft>
              <a:defRPr sz="1800"/>
            </a:pPr>
            <a:r>
              <a:t>• These techniques are applicable to real-world smart city logistics</a:t>
            </a:r>
          </a:p>
          <a:p>
            <a:pPr>
              <a:spcAft>
                <a:spcPts val="800"/>
              </a:spcAft>
              <a:defRPr sz="1800"/>
            </a:pPr>
            <a:r>
              <a:t>• Can reduce emissions, lower costs, and improve delivery service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G. B. Dantzig and J. H. Ramser, "The Truck Dispatching Problem," Management Science, 1959.</a:t>
            </a:r>
          </a:p>
          <a:p>
            <a:pPr>
              <a:spcAft>
                <a:spcPts val="800"/>
              </a:spcAft>
              <a:defRPr sz="1800"/>
            </a:pPr>
            <a:r>
              <a:t>• M. Dorigo and L. M. Gambardella, "Ant Colony System," IEEE Trans. Evol. Comput., 1997.</a:t>
            </a:r>
          </a:p>
          <a:p>
            <a:pPr>
              <a:spcAft>
                <a:spcPts val="800"/>
              </a:spcAft>
              <a:defRPr sz="1800"/>
            </a:pPr>
            <a:r>
              <a:t>• J. Kennedy and R. Eberhart, "Particle Swarm Optimization," IEEE, 1995.</a:t>
            </a:r>
          </a:p>
          <a:p>
            <a:pPr>
              <a:spcAft>
                <a:spcPts val="800"/>
              </a:spcAft>
              <a:defRPr sz="1800"/>
            </a:pPr>
            <a:r>
              <a:t>• J. H. Holland, Adaptation in Natural Systems, 1975.</a:t>
            </a:r>
          </a:p>
          <a:p>
            <a:pPr>
              <a:spcAft>
                <a:spcPts val="800"/>
              </a:spcAft>
              <a:defRPr sz="1800"/>
            </a:pPr>
            <a:r>
              <a:t>• D. E. Goldberg, Genetic Algorithms, 1989.</a:t>
            </a:r>
          </a:p>
          <a:p>
            <a:pPr>
              <a:spcAft>
                <a:spcPts val="800"/>
              </a:spcAft>
              <a:defRPr sz="1800"/>
            </a:pPr>
            <a:r>
              <a:t>• P. Toth and D. Vigo, The Vehicle Routing Problem, SIAM, 2002.</a:t>
            </a:r>
          </a:p>
          <a:p>
            <a:pPr>
              <a:spcAft>
                <a:spcPts val="800"/>
              </a:spcAft>
              <a:defRPr sz="1800"/>
            </a:pPr>
            <a:r>
              <a:t>• MATLAB Documentation, MathWorks.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/>
          </a:p>
          <a:p>
            <a:pPr algn="ctr">
              <a:defRPr sz="16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894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SURIYA S M</cp:lastModifiedBy>
  <cp:revision>5</cp:revision>
  <dcterms:created xsi:type="dcterms:W3CDTF">2013-01-27T09:14:16Z</dcterms:created>
  <dcterms:modified xsi:type="dcterms:W3CDTF">2026-04-10T06:36:06Z</dcterms:modified>
  <cp:category/>
</cp:coreProperties>
</file>